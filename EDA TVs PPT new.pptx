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75" r:id="rId3"/>
    <p:sldId id="308" r:id="rId4"/>
    <p:sldId id="278" r:id="rId5"/>
    <p:sldId id="292" r:id="rId6"/>
    <p:sldId id="324" r:id="rId7"/>
    <p:sldId id="323" r:id="rId8"/>
    <p:sldId id="314" r:id="rId9"/>
    <p:sldId id="315" r:id="rId10"/>
    <p:sldId id="316" r:id="rId11"/>
    <p:sldId id="317" r:id="rId12"/>
    <p:sldId id="319" r:id="rId13"/>
    <p:sldId id="320" r:id="rId14"/>
    <p:sldId id="321" r:id="rId15"/>
    <p:sldId id="322" r:id="rId16"/>
    <p:sldId id="306" r:id="rId17"/>
  </p:sldIdLst>
  <p:sldSz cx="12192000" cy="6858000"/>
  <p:notesSz cx="6858000" cy="9144000"/>
  <p:embeddedFontLst>
    <p:embeddedFont>
      <p:font typeface="Tahoma" panose="020B0604030504040204" pitchFamily="3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5033" autoAdjust="0"/>
  </p:normalViewPr>
  <p:slideViewPr>
    <p:cSldViewPr snapToGrid="0">
      <p:cViewPr varScale="1">
        <p:scale>
          <a:sx n="78" d="100"/>
          <a:sy n="78"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81951"/>
            <a:ext cx="12190815" cy="6694098"/>
          </a:xfrm>
          <a:prstGeom prst="rect">
            <a:avLst/>
          </a:prstGeom>
          <a:noFill/>
          <a:ln>
            <a:noFill/>
          </a:ln>
        </p:spPr>
      </p:pic>
      <p:sp>
        <p:nvSpPr>
          <p:cNvPr id="99" name="Google Shape;99;p1"/>
          <p:cNvSpPr txBox="1"/>
          <p:nvPr/>
        </p:nvSpPr>
        <p:spPr>
          <a:xfrm>
            <a:off x="550606" y="3531173"/>
            <a:ext cx="11415252" cy="3477835"/>
          </a:xfrm>
          <a:prstGeom prst="rect">
            <a:avLst/>
          </a:prstGeom>
          <a:noFill/>
          <a:ln>
            <a:noFill/>
          </a:ln>
        </p:spPr>
        <p:txBody>
          <a:bodyPr spcFirstLastPara="1" wrap="square" lIns="91425" tIns="45700" rIns="91425" bIns="45700" anchor="t" anchorCtr="0">
            <a:spAutoFit/>
          </a:bodyPr>
          <a:lstStyle/>
          <a:p>
            <a:pPr lvl="0" algn="ctr">
              <a:buSzPts val="1800"/>
            </a:pPr>
            <a:r>
              <a:rPr lang="en-IN" sz="4400" dirty="0">
                <a:latin typeface="Times New Roman" panose="02020603050405020304" pitchFamily="18" charset="0"/>
                <a:cs typeface="Times New Roman" panose="02020603050405020304" pitchFamily="18" charset="0"/>
              </a:rPr>
              <a:t>Exploratory Data Analysis On TVs</a:t>
            </a:r>
            <a:endParaRPr lang="en-IN" sz="4400" b="1" i="0"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endParaRPr lang="en-IN" sz="44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4400" b="1" dirty="0">
                <a:solidFill>
                  <a:schemeClr val="dk1"/>
                </a:solidFill>
                <a:latin typeface="Calibri"/>
                <a:ea typeface="Calibri"/>
                <a:cs typeface="Calibri"/>
                <a:sym typeface="Calibri"/>
              </a:rPr>
              <a:t>                         </a:t>
            </a:r>
            <a:endParaRPr lang="en-IN" sz="4400" b="1" i="0"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b="1" dirty="0">
                <a:solidFill>
                  <a:srgbClr val="00B0F0"/>
                </a:solidFill>
              </a:rPr>
              <a:t>								  </a:t>
            </a:r>
            <a:r>
              <a:rPr lang="en-US" sz="2600" b="1" dirty="0">
                <a:solidFill>
                  <a:srgbClr val="FF0000"/>
                </a:solidFill>
                <a:latin typeface="+mj-lt"/>
              </a:rPr>
              <a:t>Presentation by:-   </a:t>
            </a:r>
            <a:r>
              <a:rPr lang="en-US" b="1" dirty="0">
                <a:solidFill>
                  <a:srgbClr val="00B0F0"/>
                </a:solidFill>
              </a:rPr>
              <a:t>						                             </a:t>
            </a:r>
            <a:r>
              <a:rPr lang="en-US" sz="2400" dirty="0" err="1">
                <a:solidFill>
                  <a:schemeClr val="tx1"/>
                </a:solidFill>
                <a:latin typeface="Tahoma" panose="020B0604030504040204" pitchFamily="34" charset="0"/>
                <a:ea typeface="Tahoma" panose="020B0604030504040204" pitchFamily="34" charset="0"/>
                <a:cs typeface="Tahoma" panose="020B0604030504040204" pitchFamily="34" charset="0"/>
              </a:rPr>
              <a:t>K.Rohith</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Reddy</a:t>
            </a:r>
          </a:p>
          <a:p>
            <a:pPr marL="0" marR="0" lvl="0" indent="0" algn="ctr" rtl="0">
              <a:lnSpc>
                <a:spcPct val="100000"/>
              </a:lnSpc>
              <a:spcBef>
                <a:spcPts val="0"/>
              </a:spcBef>
              <a:spcAft>
                <a:spcPts val="0"/>
              </a:spcAft>
              <a:buClr>
                <a:srgbClr val="000000"/>
              </a:buClr>
              <a:buSzPts val="1800"/>
              <a:buFont typeface="Arial"/>
              <a:buNone/>
            </a:pP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0" marR="0" lvl="0" indent="0" algn="ctr" rtl="0">
              <a:lnSpc>
                <a:spcPct val="100000"/>
              </a:lnSpc>
              <a:spcBef>
                <a:spcPts val="0"/>
              </a:spcBef>
              <a:spcAft>
                <a:spcPts val="0"/>
              </a:spcAft>
              <a:buClr>
                <a:srgbClr val="000000"/>
              </a:buClr>
              <a:buSzPts val="1800"/>
              <a:buFont typeface="Arial"/>
              <a:buNone/>
            </a:pPr>
            <a:r>
              <a:rPr lang="en-US" b="1" dirty="0">
                <a:solidFill>
                  <a:srgbClr val="00B0F0"/>
                </a:solidFill>
              </a:rPr>
              <a:t>                                                                                                                                                                                        </a:t>
            </a:r>
            <a:endParaRPr sz="140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B026-FCD1-1CB7-78A0-5023CAF773E5}"/>
              </a:ext>
            </a:extLst>
          </p:cNvPr>
          <p:cNvSpPr>
            <a:spLocks noGrp="1"/>
          </p:cNvSpPr>
          <p:nvPr>
            <p:ph type="title"/>
          </p:nvPr>
        </p:nvSpPr>
        <p:spPr>
          <a:xfrm>
            <a:off x="553064" y="89821"/>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Agenda</a:t>
            </a:r>
            <a:r>
              <a:rPr lang="en-IN" b="1" dirty="0">
                <a:solidFill>
                  <a:srgbClr val="FF0000"/>
                </a:solidFill>
              </a:rPr>
              <a:t>  </a:t>
            </a:r>
            <a:endParaRPr lang="en-IN" b="1" dirty="0"/>
          </a:p>
        </p:txBody>
      </p:sp>
      <p:sp>
        <p:nvSpPr>
          <p:cNvPr id="3" name="Text Placeholder 2">
            <a:extLst>
              <a:ext uri="{FF2B5EF4-FFF2-40B4-BE49-F238E27FC236}">
                <a16:creationId xmlns:a16="http://schemas.microsoft.com/office/drawing/2014/main" id="{4F3F8CD6-14BA-4649-BB84-17B4D71D4D24}"/>
              </a:ext>
            </a:extLst>
          </p:cNvPr>
          <p:cNvSpPr>
            <a:spLocks noGrp="1"/>
          </p:cNvSpPr>
          <p:nvPr>
            <p:ph type="body" idx="1"/>
          </p:nvPr>
        </p:nvSpPr>
        <p:spPr>
          <a:xfrm>
            <a:off x="454741" y="1135343"/>
            <a:ext cx="10515600" cy="5521095"/>
          </a:xfrm>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Business Problem</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Objective</a:t>
            </a:r>
          </a:p>
          <a:p>
            <a:r>
              <a:rPr lang="en-US" dirty="0">
                <a:latin typeface="Times New Roman" panose="02020603050405020304" pitchFamily="18" charset="0"/>
                <a:cs typeface="Times New Roman" panose="02020603050405020304" pitchFamily="18" charset="0"/>
              </a:rPr>
              <a:t>Scraping</a:t>
            </a:r>
          </a:p>
          <a:p>
            <a:r>
              <a:rPr lang="en-US" dirty="0">
                <a:latin typeface="Times New Roman" panose="02020603050405020304" pitchFamily="18" charset="0"/>
                <a:cs typeface="Times New Roman" panose="02020603050405020304" pitchFamily="18" charset="0"/>
              </a:rPr>
              <a:t>Dataset Overview</a:t>
            </a:r>
          </a:p>
          <a:p>
            <a:r>
              <a:rPr lang="en-US" dirty="0">
                <a:latin typeface="Times New Roman" panose="02020603050405020304" pitchFamily="18" charset="0"/>
                <a:cs typeface="Times New Roman" panose="02020603050405020304" pitchFamily="18" charset="0"/>
              </a:rPr>
              <a:t>Data Preparation &amp; Cleaning</a:t>
            </a:r>
          </a:p>
          <a:p>
            <a:r>
              <a:rPr lang="en-US" dirty="0">
                <a:latin typeface="Times New Roman" panose="02020603050405020304" pitchFamily="18" charset="0"/>
                <a:cs typeface="Times New Roman" panose="02020603050405020304" pitchFamily="18" charset="0"/>
              </a:rPr>
              <a:t>Univariant Analysis</a:t>
            </a:r>
          </a:p>
          <a:p>
            <a:r>
              <a:rPr lang="en-US" dirty="0">
                <a:latin typeface="Times New Roman" panose="02020603050405020304" pitchFamily="18" charset="0"/>
                <a:cs typeface="Times New Roman" panose="02020603050405020304" pitchFamily="18" charset="0"/>
              </a:rPr>
              <a:t>Bi-Variant Analysis</a:t>
            </a:r>
          </a:p>
          <a:p>
            <a:r>
              <a:rPr lang="en-US" dirty="0">
                <a:latin typeface="Times New Roman" panose="02020603050405020304" pitchFamily="18" charset="0"/>
                <a:cs typeface="Times New Roman" panose="02020603050405020304" pitchFamily="18" charset="0"/>
              </a:rPr>
              <a:t>Multi-Variant Analysis</a:t>
            </a:r>
          </a:p>
          <a:p>
            <a:r>
              <a:rPr lang="en-IN" dirty="0">
                <a:solidFill>
                  <a:schemeClr val="tx1"/>
                </a:solidFill>
                <a:latin typeface="Times New Roman" panose="02020603050405020304" pitchFamily="18" charset="0"/>
                <a:cs typeface="Times New Roman" panose="02020603050405020304" pitchFamily="18" charset="0"/>
              </a:rPr>
              <a:t>Hypothesis Testing</a:t>
            </a:r>
            <a:endParaRPr lang="en-US" dirty="0">
              <a:solidFill>
                <a:schemeClr val="tx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Recommendations</a:t>
            </a:r>
          </a:p>
          <a:p>
            <a:r>
              <a:rPr lang="en-US" dirty="0">
                <a:latin typeface="Times New Roman" panose="02020603050405020304" pitchFamily="18" charset="0"/>
                <a:cs typeface="Times New Roman" panose="02020603050405020304" pitchFamily="18" charset="0"/>
              </a:rPr>
              <a:t>Conclusion</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61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B402-9D47-77A1-C135-5901460A89FA}"/>
              </a:ext>
            </a:extLst>
          </p:cNvPr>
          <p:cNvSpPr>
            <a:spLocks noGrp="1"/>
          </p:cNvSpPr>
          <p:nvPr>
            <p:ph type="title"/>
          </p:nvPr>
        </p:nvSpPr>
        <p:spPr>
          <a:xfrm>
            <a:off x="147734" y="103868"/>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Business Problem:-</a:t>
            </a:r>
            <a:endParaRPr lang="en-IN" dirty="0"/>
          </a:p>
        </p:txBody>
      </p:sp>
      <p:sp>
        <p:nvSpPr>
          <p:cNvPr id="3" name="Text Placeholder 2">
            <a:extLst>
              <a:ext uri="{FF2B5EF4-FFF2-40B4-BE49-F238E27FC236}">
                <a16:creationId xmlns:a16="http://schemas.microsoft.com/office/drawing/2014/main" id="{B495DD79-FE34-9ED3-DE80-0BDA98641AC6}"/>
              </a:ext>
            </a:extLst>
          </p:cNvPr>
          <p:cNvSpPr>
            <a:spLocks noGrp="1"/>
          </p:cNvSpPr>
          <p:nvPr>
            <p:ph type="body" idx="1"/>
          </p:nvPr>
        </p:nvSpPr>
        <p:spPr>
          <a:xfrm>
            <a:off x="-94862" y="1088507"/>
            <a:ext cx="12139128" cy="5386938"/>
          </a:xfrm>
        </p:spPr>
        <p:txBody>
          <a:bodyPr/>
          <a:lstStyle/>
          <a:p>
            <a:r>
              <a:rPr lang="en-US" dirty="0">
                <a:latin typeface="Times New Roman" panose="02020603050405020304" pitchFamily="18" charset="0"/>
                <a:cs typeface="Times New Roman" panose="02020603050405020304" pitchFamily="18" charset="0"/>
              </a:rPr>
              <a:t>Retailers and manufacturers face difficulty understanding customer preferences due to the wide variety of TV specifications, price ranges, and brands in the market. This lack of clarity leads to poor inventory planning, inefficient pricing strategies, and wasted marketing spend on products with low demand.</a:t>
            </a:r>
          </a:p>
          <a:p>
            <a:pPr marL="114300" indent="0">
              <a:buNone/>
            </a:pPr>
            <a:endParaRPr lang="en-US" b="1" dirty="0"/>
          </a:p>
          <a:p>
            <a:pPr marL="114300" indent="0">
              <a:buNone/>
            </a:pPr>
            <a:r>
              <a:rPr lang="en-US" sz="4400" b="1" u="sng" dirty="0">
                <a:solidFill>
                  <a:srgbClr val="FF0000"/>
                </a:solidFill>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TV product data is large, inconsistent, and unstructured, making it difficult to extract meaningful insights directly. The challenge is to clean and analyze this data using Exploratory Data Analysis to identify key pricing drivers, popular feature combinations, and weak-performing segments to support data-driven business decisions.</a:t>
            </a:r>
          </a:p>
          <a:p>
            <a:endParaRPr lang="en-IN" dirty="0"/>
          </a:p>
        </p:txBody>
      </p:sp>
    </p:spTree>
    <p:extLst>
      <p:ext uri="{BB962C8B-B14F-4D97-AF65-F5344CB8AC3E}">
        <p14:creationId xmlns:p14="http://schemas.microsoft.com/office/powerpoint/2010/main" val="333368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6D4D-C4F8-DC4D-FB44-3072B2990195}"/>
              </a:ext>
            </a:extLst>
          </p:cNvPr>
          <p:cNvSpPr>
            <a:spLocks noGrp="1"/>
          </p:cNvSpPr>
          <p:nvPr>
            <p:ph type="title"/>
          </p:nvPr>
        </p:nvSpPr>
        <p:spPr>
          <a:xfrm>
            <a:off x="218768" y="277095"/>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Objective:-</a:t>
            </a:r>
          </a:p>
        </p:txBody>
      </p:sp>
      <p:sp>
        <p:nvSpPr>
          <p:cNvPr id="3" name="Text Placeholder 2">
            <a:extLst>
              <a:ext uri="{FF2B5EF4-FFF2-40B4-BE49-F238E27FC236}">
                <a16:creationId xmlns:a16="http://schemas.microsoft.com/office/drawing/2014/main" id="{03A010C3-4AEB-1DAE-D950-C22E138673D3}"/>
              </a:ext>
            </a:extLst>
          </p:cNvPr>
          <p:cNvSpPr>
            <a:spLocks noGrp="1"/>
          </p:cNvSpPr>
          <p:nvPr>
            <p:ph type="body" idx="1"/>
          </p:nvPr>
        </p:nvSpPr>
        <p:spPr>
          <a:xfrm>
            <a:off x="218768" y="1386348"/>
            <a:ext cx="11754464" cy="5471652"/>
          </a:xfrm>
        </p:spPr>
        <p:txBody>
          <a:bodyPr>
            <a:normAutofit/>
          </a:bodyPr>
          <a:lstStyle/>
          <a:p>
            <a:pPr marL="114300" indent="0">
              <a:buNone/>
            </a:pPr>
            <a:r>
              <a:rPr lang="en-US" dirty="0">
                <a:latin typeface="Times New Roman" panose="02020603050405020304" pitchFamily="18" charset="0"/>
                <a:cs typeface="Times New Roman" panose="02020603050405020304" pitchFamily="18" charset="0"/>
              </a:rPr>
              <a:t>• Analyze pricing variation across brands, screen sizes, resolutions, and other key features.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Identify which technical specifications most strongly influence customer interest and perceived value.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Detect trends and patterns in ratings, availability, and product positioning across the market.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Compare performance across brand segments to highlight leaders and laggards.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Surface feature combinations that represent the best value for customers and the highest margin potential for sellers.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Convert messy raw TV data into insights businesses can actually use for stocking, pricing, and strategy.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17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6A85E-B80E-324F-7DFA-9AE8167157BB}"/>
              </a:ext>
            </a:extLst>
          </p:cNvPr>
          <p:cNvSpPr>
            <a:spLocks noGrp="1"/>
          </p:cNvSpPr>
          <p:nvPr>
            <p:ph type="title"/>
          </p:nvPr>
        </p:nvSpPr>
        <p:spPr>
          <a:xfrm>
            <a:off x="0" y="214296"/>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Scarping:-</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EB0F43E-EA24-90BA-0F9F-D70A8BDBDAAA}"/>
              </a:ext>
            </a:extLst>
          </p:cNvPr>
          <p:cNvSpPr>
            <a:spLocks noGrp="1"/>
          </p:cNvSpPr>
          <p:nvPr>
            <p:ph type="body" idx="1"/>
          </p:nvPr>
        </p:nvSpPr>
        <p:spPr>
          <a:xfrm>
            <a:off x="0" y="1397409"/>
            <a:ext cx="7949682" cy="5246295"/>
          </a:xfrm>
        </p:spPr>
        <p:txBody>
          <a:bodyPr>
            <a:normAutofit/>
          </a:bodyPr>
          <a:lstStyle/>
          <a:p>
            <a:r>
              <a:rPr lang="en-US" sz="2600" dirty="0">
                <a:latin typeface="Times New Roman" panose="02020603050405020304" pitchFamily="18" charset="0"/>
                <a:cs typeface="Times New Roman" panose="02020603050405020304" pitchFamily="18" charset="0"/>
              </a:rPr>
              <a:t>Sending a Request: The scraper sends a request to a website’s server to access a webpage.</a:t>
            </a:r>
          </a:p>
          <a:p>
            <a:r>
              <a:rPr lang="en-US" sz="2600" dirty="0">
                <a:latin typeface="Times New Roman" panose="02020603050405020304" pitchFamily="18" charset="0"/>
                <a:cs typeface="Times New Roman" panose="02020603050405020304" pitchFamily="18" charset="0"/>
              </a:rPr>
              <a:t>Retrieving HTML Content: The website responds with the HTML, CSS, and JavaScript code of the page.</a:t>
            </a:r>
          </a:p>
          <a:p>
            <a:r>
              <a:rPr lang="en-US" sz="2600" dirty="0">
                <a:latin typeface="Times New Roman" panose="02020603050405020304" pitchFamily="18" charset="0"/>
                <a:cs typeface="Times New Roman" panose="02020603050405020304" pitchFamily="18" charset="0"/>
              </a:rPr>
              <a:t>Parsing Data: Tools like </a:t>
            </a:r>
            <a:r>
              <a:rPr lang="en-US" sz="2600" dirty="0" err="1">
                <a:latin typeface="Times New Roman" panose="02020603050405020304" pitchFamily="18" charset="0"/>
                <a:cs typeface="Times New Roman" panose="02020603050405020304" pitchFamily="18" charset="0"/>
              </a:rPr>
              <a:t>BeautifulSoup</a:t>
            </a:r>
            <a:r>
              <a:rPr lang="en-US" sz="2600" dirty="0">
                <a:latin typeface="Times New Roman" panose="02020603050405020304" pitchFamily="18" charset="0"/>
                <a:cs typeface="Times New Roman" panose="02020603050405020304" pitchFamily="18" charset="0"/>
              </a:rPr>
              <a:t>, Selenium, extract the desired information from the HTML.</a:t>
            </a:r>
          </a:p>
          <a:p>
            <a:r>
              <a:rPr lang="en-US" sz="2600" dirty="0">
                <a:latin typeface="Times New Roman" panose="02020603050405020304" pitchFamily="18" charset="0"/>
                <a:cs typeface="Times New Roman" panose="02020603050405020304" pitchFamily="18" charset="0"/>
              </a:rPr>
              <a:t>Cleaning &amp; Structuring: Extracted data is cleaned and organized into tables, CSVs, or databases.</a:t>
            </a:r>
          </a:p>
          <a:p>
            <a:r>
              <a:rPr lang="en-US" sz="2600" dirty="0">
                <a:latin typeface="Times New Roman" panose="02020603050405020304" pitchFamily="18" charset="0"/>
                <a:cs typeface="Times New Roman" panose="02020603050405020304" pitchFamily="18" charset="0"/>
              </a:rPr>
              <a:t>Analysis &amp; Visualization: The structured data can then be analyzed or visualized for insights.</a:t>
            </a:r>
          </a:p>
        </p:txBody>
      </p:sp>
      <p:pic>
        <p:nvPicPr>
          <p:cNvPr id="5" name="Picture 4">
            <a:extLst>
              <a:ext uri="{FF2B5EF4-FFF2-40B4-BE49-F238E27FC236}">
                <a16:creationId xmlns:a16="http://schemas.microsoft.com/office/drawing/2014/main" id="{1052E91E-7D8C-E333-6AA7-49F1F88BA12D}"/>
              </a:ext>
            </a:extLst>
          </p:cNvPr>
          <p:cNvPicPr>
            <a:picLocks noChangeAspect="1"/>
          </p:cNvPicPr>
          <p:nvPr/>
        </p:nvPicPr>
        <p:blipFill>
          <a:blip r:embed="rId2"/>
          <a:stretch>
            <a:fillRect/>
          </a:stretch>
        </p:blipFill>
        <p:spPr>
          <a:xfrm>
            <a:off x="8147983" y="942392"/>
            <a:ext cx="3837152" cy="5038530"/>
          </a:xfrm>
          <a:prstGeom prst="rect">
            <a:avLst/>
          </a:prstGeom>
        </p:spPr>
      </p:pic>
    </p:spTree>
    <p:extLst>
      <p:ext uri="{BB962C8B-B14F-4D97-AF65-F5344CB8AC3E}">
        <p14:creationId xmlns:p14="http://schemas.microsoft.com/office/powerpoint/2010/main" val="2036853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7105-25FF-7EFC-AF67-31A80C9B0CC2}"/>
              </a:ext>
            </a:extLst>
          </p:cNvPr>
          <p:cNvSpPr>
            <a:spLocks noGrp="1"/>
          </p:cNvSpPr>
          <p:nvPr>
            <p:ph type="title"/>
          </p:nvPr>
        </p:nvSpPr>
        <p:spPr>
          <a:xfrm>
            <a:off x="199102" y="365125"/>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Dataset Overview:-</a:t>
            </a:r>
            <a:br>
              <a:rPr lang="en-US" dirty="0">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a16="http://schemas.microsoft.com/office/drawing/2014/main" id="{FBBE19A0-EA21-6F1A-70E1-DAD5A601D280}"/>
              </a:ext>
            </a:extLst>
          </p:cNvPr>
          <p:cNvSpPr>
            <a:spLocks noGrp="1" noChangeArrowheads="1"/>
          </p:cNvSpPr>
          <p:nvPr>
            <p:ph type="body" idx="1"/>
          </p:nvPr>
        </p:nvSpPr>
        <p:spPr bwMode="auto">
          <a:xfrm>
            <a:off x="199102" y="1100003"/>
            <a:ext cx="117937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 was collected from online TV shopping websites.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TVs from many brands and price ranges.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TV has details like brand name, price, and customer rating.</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information such as screen size, display type, and sound output is included.</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 details like launch year and model name are also available.</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shows TVs that are currently sold in the market.</a:t>
            </a:r>
          </a:p>
        </p:txBody>
      </p:sp>
      <p:pic>
        <p:nvPicPr>
          <p:cNvPr id="6" name="Picture 5">
            <a:extLst>
              <a:ext uri="{FF2B5EF4-FFF2-40B4-BE49-F238E27FC236}">
                <a16:creationId xmlns:a16="http://schemas.microsoft.com/office/drawing/2014/main" id="{75D77E67-DAF0-4BF9-64CA-DE2AF82E0EC2}"/>
              </a:ext>
            </a:extLst>
          </p:cNvPr>
          <p:cNvPicPr>
            <a:picLocks noChangeAspect="1"/>
          </p:cNvPicPr>
          <p:nvPr/>
        </p:nvPicPr>
        <p:blipFill>
          <a:blip r:embed="rId2"/>
          <a:stretch>
            <a:fillRect/>
          </a:stretch>
        </p:blipFill>
        <p:spPr>
          <a:xfrm>
            <a:off x="2077155" y="4208546"/>
            <a:ext cx="7506748" cy="2162477"/>
          </a:xfrm>
          <a:prstGeom prst="rect">
            <a:avLst/>
          </a:prstGeom>
        </p:spPr>
      </p:pic>
    </p:spTree>
    <p:extLst>
      <p:ext uri="{BB962C8B-B14F-4D97-AF65-F5344CB8AC3E}">
        <p14:creationId xmlns:p14="http://schemas.microsoft.com/office/powerpoint/2010/main" val="71952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5B5F1-6830-C8BA-7F59-6B074BF76A43}"/>
              </a:ext>
            </a:extLst>
          </p:cNvPr>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Data Preparation &amp; Cleaning:-</a:t>
            </a:r>
            <a:br>
              <a:rPr lang="en-US" b="1" u="sng"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a16="http://schemas.microsoft.com/office/drawing/2014/main" id="{91EDDDA2-3B4E-D40B-C7BE-93F6694D6FC7}"/>
              </a:ext>
            </a:extLst>
          </p:cNvPr>
          <p:cNvSpPr>
            <a:spLocks noGrp="1" noChangeArrowheads="1"/>
          </p:cNvSpPr>
          <p:nvPr>
            <p:ph type="body" idx="1"/>
          </p:nvPr>
        </p:nvSpPr>
        <p:spPr bwMode="auto">
          <a:xfrm>
            <a:off x="690716" y="1319777"/>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currency symbols and converted price fields to numeric format.</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Extracted structured attributes (screen size, resolution, display type) from unstructured text.</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Handled missing and inconsistent customer ratings using standard imputation rules.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data types and units across all feature columns.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Normalized brand and model naming to eliminate duplicates and inconsistencies.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Validated feature ranges and removed invalid or outlier records where necessary.</a:t>
            </a:r>
          </a:p>
        </p:txBody>
      </p:sp>
    </p:spTree>
    <p:extLst>
      <p:ext uri="{BB962C8B-B14F-4D97-AF65-F5344CB8AC3E}">
        <p14:creationId xmlns:p14="http://schemas.microsoft.com/office/powerpoint/2010/main" val="1646720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3B80A-EB08-A9A1-BDFF-F16D0A614731}"/>
              </a:ext>
            </a:extLst>
          </p:cNvPr>
          <p:cNvSpPr>
            <a:spLocks noGrp="1"/>
          </p:cNvSpPr>
          <p:nvPr>
            <p:ph type="title"/>
          </p:nvPr>
        </p:nvSpPr>
        <p:spPr>
          <a:xfrm>
            <a:off x="0" y="-96106"/>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Univariant Analysis:-</a:t>
            </a:r>
            <a:endParaRPr lang="en-IN" dirty="0"/>
          </a:p>
        </p:txBody>
      </p:sp>
      <p:sp>
        <p:nvSpPr>
          <p:cNvPr id="4" name="Text Placeholder 3">
            <a:extLst>
              <a:ext uri="{FF2B5EF4-FFF2-40B4-BE49-F238E27FC236}">
                <a16:creationId xmlns:a16="http://schemas.microsoft.com/office/drawing/2014/main" id="{7389CB0D-73A2-19EB-8686-C27993AA3E3B}"/>
              </a:ext>
            </a:extLst>
          </p:cNvPr>
          <p:cNvSpPr>
            <a:spLocks noGrp="1"/>
          </p:cNvSpPr>
          <p:nvPr>
            <p:ph type="body" idx="2"/>
          </p:nvPr>
        </p:nvSpPr>
        <p:spPr>
          <a:xfrm>
            <a:off x="0" y="3606088"/>
            <a:ext cx="5719665" cy="3251912"/>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Samsung and TCL dominate the catalogue with the highest number of TV models.</a:t>
            </a:r>
          </a:p>
          <a:p>
            <a:r>
              <a:rPr lang="en-US" dirty="0">
                <a:latin typeface="Times New Roman" panose="02020603050405020304" pitchFamily="18" charset="0"/>
                <a:cs typeface="Times New Roman" panose="02020603050405020304" pitchFamily="18" charset="0"/>
              </a:rPr>
              <a:t>Most other brands have a moderate presence, forming a long competitive tail.</a:t>
            </a:r>
          </a:p>
          <a:p>
            <a:r>
              <a:rPr lang="en-US" dirty="0">
                <a:latin typeface="Times New Roman" panose="02020603050405020304" pitchFamily="18" charset="0"/>
                <a:cs typeface="Times New Roman" panose="02020603050405020304" pitchFamily="18" charset="0"/>
              </a:rPr>
              <a:t>Product availability is concentrated among a few major brands.</a:t>
            </a:r>
          </a:p>
          <a:p>
            <a:endParaRPr lang="en-IN" dirty="0"/>
          </a:p>
        </p:txBody>
      </p:sp>
      <p:sp>
        <p:nvSpPr>
          <p:cNvPr id="6" name="Text Placeholder 5">
            <a:extLst>
              <a:ext uri="{FF2B5EF4-FFF2-40B4-BE49-F238E27FC236}">
                <a16:creationId xmlns:a16="http://schemas.microsoft.com/office/drawing/2014/main" id="{8E8D1DAA-D9D8-85E7-8CAA-F4AA49F63014}"/>
              </a:ext>
            </a:extLst>
          </p:cNvPr>
          <p:cNvSpPr>
            <a:spLocks noGrp="1"/>
          </p:cNvSpPr>
          <p:nvPr>
            <p:ph type="body" idx="4"/>
          </p:nvPr>
        </p:nvSpPr>
        <p:spPr>
          <a:xfrm>
            <a:off x="6226616" y="3326275"/>
            <a:ext cx="5183188" cy="3684588"/>
          </a:xfrm>
        </p:spPr>
        <p:txBody>
          <a:bodyPr/>
          <a:lstStyle/>
          <a:p>
            <a:r>
              <a:rPr lang="en-US" dirty="0">
                <a:latin typeface="Times New Roman" panose="02020603050405020304" pitchFamily="18" charset="0"/>
                <a:cs typeface="Times New Roman" panose="02020603050405020304" pitchFamily="18" charset="0"/>
              </a:rPr>
              <a:t>TV prices show a strong right-skewed distribution.</a:t>
            </a:r>
          </a:p>
          <a:p>
            <a:r>
              <a:rPr lang="en-US" dirty="0">
                <a:latin typeface="Times New Roman" panose="02020603050405020304" pitchFamily="18" charset="0"/>
                <a:cs typeface="Times New Roman" panose="02020603050405020304" pitchFamily="18" charset="0"/>
              </a:rPr>
              <a:t>Majority of models fall in the ₹10,000–₹50,000 range.</a:t>
            </a:r>
          </a:p>
          <a:p>
            <a:r>
              <a:rPr lang="en-US" dirty="0">
                <a:latin typeface="Times New Roman" panose="02020603050405020304" pitchFamily="18" charset="0"/>
                <a:cs typeface="Times New Roman" panose="02020603050405020304" pitchFamily="18" charset="0"/>
              </a:rPr>
              <a:t>High-end TVs above ₹100,000 appear as rare outliers.</a:t>
            </a:r>
          </a:p>
          <a:p>
            <a:pPr marL="114300" indent="0">
              <a:buNone/>
            </a:pPr>
            <a:endParaRPr lang="en-IN" dirty="0"/>
          </a:p>
        </p:txBody>
      </p:sp>
      <p:pic>
        <p:nvPicPr>
          <p:cNvPr id="7" name="Picture 6">
            <a:extLst>
              <a:ext uri="{FF2B5EF4-FFF2-40B4-BE49-F238E27FC236}">
                <a16:creationId xmlns:a16="http://schemas.microsoft.com/office/drawing/2014/main" id="{01D826C4-4514-3DA8-F2E5-1E37ECB15EE0}"/>
              </a:ext>
            </a:extLst>
          </p:cNvPr>
          <p:cNvPicPr>
            <a:picLocks noChangeAspect="1"/>
          </p:cNvPicPr>
          <p:nvPr/>
        </p:nvPicPr>
        <p:blipFill>
          <a:blip r:embed="rId2"/>
          <a:stretch>
            <a:fillRect/>
          </a:stretch>
        </p:blipFill>
        <p:spPr>
          <a:xfrm>
            <a:off x="219269" y="1009126"/>
            <a:ext cx="5038531" cy="2456136"/>
          </a:xfrm>
          <a:prstGeom prst="rect">
            <a:avLst/>
          </a:prstGeom>
        </p:spPr>
      </p:pic>
      <p:pic>
        <p:nvPicPr>
          <p:cNvPr id="8" name="Picture 7">
            <a:extLst>
              <a:ext uri="{FF2B5EF4-FFF2-40B4-BE49-F238E27FC236}">
                <a16:creationId xmlns:a16="http://schemas.microsoft.com/office/drawing/2014/main" id="{9FCD777B-3B76-B91F-A4CB-6F619C71D97F}"/>
              </a:ext>
            </a:extLst>
          </p:cNvPr>
          <p:cNvPicPr>
            <a:picLocks noChangeAspect="1"/>
          </p:cNvPicPr>
          <p:nvPr/>
        </p:nvPicPr>
        <p:blipFill>
          <a:blip r:embed="rId3"/>
          <a:stretch>
            <a:fillRect/>
          </a:stretch>
        </p:blipFill>
        <p:spPr>
          <a:xfrm>
            <a:off x="6117783" y="699796"/>
            <a:ext cx="5292021" cy="2626479"/>
          </a:xfrm>
          <a:prstGeom prst="rect">
            <a:avLst/>
          </a:prstGeom>
        </p:spPr>
      </p:pic>
    </p:spTree>
    <p:extLst>
      <p:ext uri="{BB962C8B-B14F-4D97-AF65-F5344CB8AC3E}">
        <p14:creationId xmlns:p14="http://schemas.microsoft.com/office/powerpoint/2010/main" val="2611119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6C56E7-6D14-83C1-83B0-304029148AE2}"/>
              </a:ext>
            </a:extLst>
          </p:cNvPr>
          <p:cNvSpPr>
            <a:spLocks noGrp="1"/>
          </p:cNvSpPr>
          <p:nvPr>
            <p:ph type="body" idx="2"/>
          </p:nvPr>
        </p:nvSpPr>
        <p:spPr>
          <a:xfrm>
            <a:off x="354564" y="3163077"/>
            <a:ext cx="5643012" cy="3228392"/>
          </a:xfrm>
        </p:spPr>
        <p:txBody>
          <a:bodyPr>
            <a:normAutofit fontScale="92500"/>
          </a:bodyPr>
          <a:lstStyle/>
          <a:p>
            <a:pPr marL="114300" indent="0">
              <a:buNone/>
            </a:pPr>
            <a:r>
              <a:rPr lang="en-US" b="1" dirty="0">
                <a:latin typeface="Times New Roman" panose="02020603050405020304" pitchFamily="18" charset="0"/>
                <a:cs typeface="Times New Roman" panose="02020603050405020304" pitchFamily="18" charset="0"/>
              </a:rPr>
              <a:t>Launch Year Distribution</a:t>
            </a:r>
          </a:p>
          <a:p>
            <a:r>
              <a:rPr lang="en-US" dirty="0">
                <a:latin typeface="Times New Roman" panose="02020603050405020304" pitchFamily="18" charset="0"/>
                <a:cs typeface="Times New Roman" panose="02020603050405020304" pitchFamily="18" charset="0"/>
              </a:rPr>
              <a:t>Majority of TV models were launched between 2020 and 2024.</a:t>
            </a:r>
          </a:p>
          <a:p>
            <a:r>
              <a:rPr lang="en-US" dirty="0">
                <a:latin typeface="Times New Roman" panose="02020603050405020304" pitchFamily="18" charset="0"/>
                <a:cs typeface="Times New Roman" panose="02020603050405020304" pitchFamily="18" charset="0"/>
              </a:rPr>
              <a:t>Peak concentration appears around 2022–2023.</a:t>
            </a:r>
          </a:p>
          <a:p>
            <a:r>
              <a:rPr lang="en-US" dirty="0">
                <a:latin typeface="Times New Roman" panose="02020603050405020304" pitchFamily="18" charset="0"/>
                <a:cs typeface="Times New Roman" panose="02020603050405020304" pitchFamily="18" charset="0"/>
              </a:rPr>
              <a:t>Older models form a negligible tail, indicating focus on recent inventory</a:t>
            </a:r>
            <a:r>
              <a:rPr lang="en-US" dirty="0"/>
              <a:t>.</a:t>
            </a:r>
          </a:p>
          <a:p>
            <a:endParaRPr lang="en-IN" dirty="0"/>
          </a:p>
        </p:txBody>
      </p:sp>
      <p:sp>
        <p:nvSpPr>
          <p:cNvPr id="6" name="Text Placeholder 5">
            <a:extLst>
              <a:ext uri="{FF2B5EF4-FFF2-40B4-BE49-F238E27FC236}">
                <a16:creationId xmlns:a16="http://schemas.microsoft.com/office/drawing/2014/main" id="{E32CCF55-4F62-2AEF-8A66-11D24FA5DCA3}"/>
              </a:ext>
            </a:extLst>
          </p:cNvPr>
          <p:cNvSpPr>
            <a:spLocks noGrp="1"/>
          </p:cNvSpPr>
          <p:nvPr>
            <p:ph type="body" idx="4"/>
          </p:nvPr>
        </p:nvSpPr>
        <p:spPr>
          <a:xfrm>
            <a:off x="6172200" y="3163077"/>
            <a:ext cx="5556380" cy="3146825"/>
          </a:xfrm>
        </p:spPr>
        <p:txBody>
          <a:bodyPr>
            <a:normAutofit lnSpcReduction="10000"/>
          </a:bodyPr>
          <a:lstStyle/>
          <a:p>
            <a:pPr marL="114300" indent="0">
              <a:buNone/>
            </a:pPr>
            <a:r>
              <a:rPr lang="en-US" b="1" dirty="0">
                <a:latin typeface="Times New Roman" panose="02020603050405020304" pitchFamily="18" charset="0"/>
                <a:cs typeface="Times New Roman" panose="02020603050405020304" pitchFamily="18" charset="0"/>
              </a:rPr>
              <a:t>Screen Length Distribution</a:t>
            </a:r>
          </a:p>
          <a:p>
            <a:r>
              <a:rPr lang="en-US" dirty="0">
                <a:latin typeface="Times New Roman" panose="02020603050405020304" pitchFamily="18" charset="0"/>
                <a:cs typeface="Times New Roman" panose="02020603050405020304" pitchFamily="18" charset="0"/>
              </a:rPr>
              <a:t>Screen sizes cluster into standard consumer ranges.</a:t>
            </a:r>
          </a:p>
          <a:p>
            <a:r>
              <a:rPr lang="en-US" dirty="0">
                <a:latin typeface="Times New Roman" panose="02020603050405020304" pitchFamily="18" charset="0"/>
                <a:cs typeface="Times New Roman" panose="02020603050405020304" pitchFamily="18" charset="0"/>
              </a:rPr>
              <a:t>Highest concentration is around 130–150 cm (≈50–55 inches).</a:t>
            </a:r>
          </a:p>
          <a:p>
            <a:r>
              <a:rPr lang="en-US" dirty="0">
                <a:latin typeface="Times New Roman" panose="02020603050405020304" pitchFamily="18" charset="0"/>
                <a:cs typeface="Times New Roman" panose="02020603050405020304" pitchFamily="18" charset="0"/>
              </a:rPr>
              <a:t>Very large screens (above 180 cm) are rare and niche.</a:t>
            </a:r>
          </a:p>
          <a:p>
            <a:endParaRPr lang="en-IN" dirty="0"/>
          </a:p>
        </p:txBody>
      </p:sp>
      <p:pic>
        <p:nvPicPr>
          <p:cNvPr id="7" name="Picture 6">
            <a:extLst>
              <a:ext uri="{FF2B5EF4-FFF2-40B4-BE49-F238E27FC236}">
                <a16:creationId xmlns:a16="http://schemas.microsoft.com/office/drawing/2014/main" id="{115B624B-7B11-F7AE-450D-2F815FA89D20}"/>
              </a:ext>
            </a:extLst>
          </p:cNvPr>
          <p:cNvPicPr>
            <a:picLocks noChangeAspect="1"/>
          </p:cNvPicPr>
          <p:nvPr/>
        </p:nvPicPr>
        <p:blipFill>
          <a:blip r:embed="rId2"/>
          <a:stretch>
            <a:fillRect/>
          </a:stretch>
        </p:blipFill>
        <p:spPr>
          <a:xfrm>
            <a:off x="6479232" y="265471"/>
            <a:ext cx="4942315" cy="2897606"/>
          </a:xfrm>
          <a:prstGeom prst="rect">
            <a:avLst/>
          </a:prstGeom>
        </p:spPr>
      </p:pic>
      <p:pic>
        <p:nvPicPr>
          <p:cNvPr id="8" name="Picture 7">
            <a:extLst>
              <a:ext uri="{FF2B5EF4-FFF2-40B4-BE49-F238E27FC236}">
                <a16:creationId xmlns:a16="http://schemas.microsoft.com/office/drawing/2014/main" id="{9848A421-89BC-04D0-5191-BABDF3A49401}"/>
              </a:ext>
            </a:extLst>
          </p:cNvPr>
          <p:cNvPicPr>
            <a:picLocks noChangeAspect="1"/>
          </p:cNvPicPr>
          <p:nvPr/>
        </p:nvPicPr>
        <p:blipFill>
          <a:blip r:embed="rId3"/>
          <a:stretch>
            <a:fillRect/>
          </a:stretch>
        </p:blipFill>
        <p:spPr>
          <a:xfrm>
            <a:off x="0" y="100079"/>
            <a:ext cx="5728996" cy="2897605"/>
          </a:xfrm>
          <a:prstGeom prst="rect">
            <a:avLst/>
          </a:prstGeom>
        </p:spPr>
      </p:pic>
    </p:spTree>
    <p:extLst>
      <p:ext uri="{BB962C8B-B14F-4D97-AF65-F5344CB8AC3E}">
        <p14:creationId xmlns:p14="http://schemas.microsoft.com/office/powerpoint/2010/main" val="780098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C4B10-D693-E9DB-A613-44436F9558CA}"/>
              </a:ext>
            </a:extLst>
          </p:cNvPr>
          <p:cNvSpPr>
            <a:spLocks noGrp="1"/>
          </p:cNvSpPr>
          <p:nvPr>
            <p:ph type="title"/>
          </p:nvPr>
        </p:nvSpPr>
        <p:spPr>
          <a:xfrm>
            <a:off x="16102" y="5555"/>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Bi-Variant Analysis:-</a:t>
            </a:r>
            <a:endParaRPr lang="en-IN" dirty="0"/>
          </a:p>
        </p:txBody>
      </p:sp>
      <p:sp>
        <p:nvSpPr>
          <p:cNvPr id="4" name="Text Placeholder 3">
            <a:extLst>
              <a:ext uri="{FF2B5EF4-FFF2-40B4-BE49-F238E27FC236}">
                <a16:creationId xmlns:a16="http://schemas.microsoft.com/office/drawing/2014/main" id="{39C4FF43-554E-5CF5-3CC2-DFA25F28DB35}"/>
              </a:ext>
            </a:extLst>
          </p:cNvPr>
          <p:cNvSpPr>
            <a:spLocks noGrp="1"/>
          </p:cNvSpPr>
          <p:nvPr>
            <p:ph type="body" idx="2"/>
          </p:nvPr>
        </p:nvSpPr>
        <p:spPr>
          <a:xfrm>
            <a:off x="16102" y="3638745"/>
            <a:ext cx="5157787" cy="3684588"/>
          </a:xfrm>
        </p:spPr>
        <p:txBody>
          <a:bodyPr>
            <a:normAutofit/>
          </a:bodyPr>
          <a:lstStyle/>
          <a:p>
            <a:pPr marL="114300" indent="0">
              <a:buNone/>
            </a:pPr>
            <a:r>
              <a:rPr lang="en-US" sz="2600" b="1" dirty="0">
                <a:latin typeface="Times New Roman" panose="02020603050405020304" pitchFamily="18" charset="0"/>
                <a:cs typeface="Times New Roman" panose="02020603050405020304" pitchFamily="18" charset="0"/>
              </a:rPr>
              <a:t>Price vs Customer Rating</a:t>
            </a:r>
          </a:p>
          <a:p>
            <a:r>
              <a:rPr lang="en-US" sz="2600" dirty="0">
                <a:latin typeface="Times New Roman" panose="02020603050405020304" pitchFamily="18" charset="0"/>
                <a:cs typeface="Times New Roman" panose="02020603050405020304" pitchFamily="18" charset="0"/>
              </a:rPr>
              <a:t>Ratings remain clustered between 3.5 and 4.5 across prices.</a:t>
            </a:r>
          </a:p>
          <a:p>
            <a:r>
              <a:rPr lang="en-US" sz="2600" dirty="0">
                <a:latin typeface="Times New Roman" panose="02020603050405020304" pitchFamily="18" charset="0"/>
                <a:cs typeface="Times New Roman" panose="02020603050405020304" pitchFamily="18" charset="0"/>
              </a:rPr>
              <a:t>Higher price does not guarantee higher customer satisfaction.</a:t>
            </a:r>
          </a:p>
          <a:p>
            <a:r>
              <a:rPr lang="en-US" sz="2600" dirty="0">
                <a:latin typeface="Times New Roman" panose="02020603050405020304" pitchFamily="18" charset="0"/>
                <a:cs typeface="Times New Roman" panose="02020603050405020304" pitchFamily="18" charset="0"/>
              </a:rPr>
              <a:t>Weak relationship between price and rating.</a:t>
            </a:r>
          </a:p>
          <a:p>
            <a:pPr marL="114300" indent="0">
              <a:buNone/>
            </a:pPr>
            <a:endParaRPr lang="en-US" dirty="0"/>
          </a:p>
          <a:p>
            <a:pPr marL="114300" indent="0">
              <a:buNone/>
            </a:pPr>
            <a:endParaRPr lang="en-IN" dirty="0"/>
          </a:p>
        </p:txBody>
      </p:sp>
      <p:sp>
        <p:nvSpPr>
          <p:cNvPr id="6" name="Text Placeholder 5">
            <a:extLst>
              <a:ext uri="{FF2B5EF4-FFF2-40B4-BE49-F238E27FC236}">
                <a16:creationId xmlns:a16="http://schemas.microsoft.com/office/drawing/2014/main" id="{C9FF498B-B193-0CB1-6642-54FAD6218BB0}"/>
              </a:ext>
            </a:extLst>
          </p:cNvPr>
          <p:cNvSpPr>
            <a:spLocks noGrp="1"/>
          </p:cNvSpPr>
          <p:nvPr>
            <p:ph type="body" idx="4"/>
          </p:nvPr>
        </p:nvSpPr>
        <p:spPr>
          <a:xfrm>
            <a:off x="6489441" y="3638745"/>
            <a:ext cx="5183188" cy="3036304"/>
          </a:xfrm>
        </p:spPr>
        <p:txBody>
          <a:bodyPr>
            <a:normAutofit fontScale="92500" lnSpcReduction="20000"/>
          </a:bodyPr>
          <a:lstStyle/>
          <a:p>
            <a:pPr marL="114300" indent="0">
              <a:buNone/>
            </a:pPr>
            <a:r>
              <a:rPr lang="en-US" b="1" dirty="0">
                <a:latin typeface="Times New Roman" panose="02020603050405020304" pitchFamily="18" charset="0"/>
                <a:cs typeface="Times New Roman" panose="02020603050405020304" pitchFamily="18" charset="0"/>
              </a:rPr>
              <a:t>Screen Length vs Display Type</a:t>
            </a:r>
          </a:p>
          <a:p>
            <a:r>
              <a:rPr lang="en-US" dirty="0">
                <a:latin typeface="Times New Roman" panose="02020603050405020304" pitchFamily="18" charset="0"/>
                <a:cs typeface="Times New Roman" panose="02020603050405020304" pitchFamily="18" charset="0"/>
              </a:rPr>
              <a:t>Premium display types (QLED, Mini LED, OLED) appear in larger screen sizes.</a:t>
            </a:r>
          </a:p>
          <a:p>
            <a:r>
              <a:rPr lang="en-US" dirty="0">
                <a:latin typeface="Times New Roman" panose="02020603050405020304" pitchFamily="18" charset="0"/>
                <a:cs typeface="Times New Roman" panose="02020603050405020304" pitchFamily="18" charset="0"/>
              </a:rPr>
              <a:t>Traditional LED models dominate smaller and mid-size ranges.</a:t>
            </a:r>
          </a:p>
          <a:p>
            <a:r>
              <a:rPr lang="en-US" dirty="0">
                <a:latin typeface="Times New Roman" panose="02020603050405020304" pitchFamily="18" charset="0"/>
                <a:cs typeface="Times New Roman" panose="02020603050405020304" pitchFamily="18" charset="0"/>
              </a:rPr>
              <a:t>Advanced technology is typically paired with bigger panels</a:t>
            </a:r>
            <a:r>
              <a:rPr lang="en-US" dirty="0"/>
              <a:t>.</a:t>
            </a:r>
          </a:p>
          <a:p>
            <a:pPr marL="114300" indent="0">
              <a:buNone/>
            </a:pPr>
            <a:endParaRPr lang="en-IN" dirty="0"/>
          </a:p>
        </p:txBody>
      </p:sp>
      <p:pic>
        <p:nvPicPr>
          <p:cNvPr id="7" name="Picture 6">
            <a:extLst>
              <a:ext uri="{FF2B5EF4-FFF2-40B4-BE49-F238E27FC236}">
                <a16:creationId xmlns:a16="http://schemas.microsoft.com/office/drawing/2014/main" id="{C1404392-E8AE-3998-EF4F-79066F4D2B52}"/>
              </a:ext>
            </a:extLst>
          </p:cNvPr>
          <p:cNvPicPr>
            <a:picLocks noChangeAspect="1"/>
          </p:cNvPicPr>
          <p:nvPr/>
        </p:nvPicPr>
        <p:blipFill>
          <a:blip r:embed="rId2"/>
          <a:stretch>
            <a:fillRect/>
          </a:stretch>
        </p:blipFill>
        <p:spPr>
          <a:xfrm>
            <a:off x="746449" y="970383"/>
            <a:ext cx="4114800" cy="2761862"/>
          </a:xfrm>
          <a:prstGeom prst="rect">
            <a:avLst/>
          </a:prstGeom>
        </p:spPr>
      </p:pic>
      <p:pic>
        <p:nvPicPr>
          <p:cNvPr id="8" name="Picture 7">
            <a:extLst>
              <a:ext uri="{FF2B5EF4-FFF2-40B4-BE49-F238E27FC236}">
                <a16:creationId xmlns:a16="http://schemas.microsoft.com/office/drawing/2014/main" id="{8255CDFE-5042-A18E-1260-24122E8D48F3}"/>
              </a:ext>
            </a:extLst>
          </p:cNvPr>
          <p:cNvPicPr>
            <a:picLocks noChangeAspect="1"/>
          </p:cNvPicPr>
          <p:nvPr/>
        </p:nvPicPr>
        <p:blipFill>
          <a:blip r:embed="rId3"/>
          <a:stretch>
            <a:fillRect/>
          </a:stretch>
        </p:blipFill>
        <p:spPr>
          <a:xfrm>
            <a:off x="6771128" y="970383"/>
            <a:ext cx="4742848" cy="2346650"/>
          </a:xfrm>
          <a:prstGeom prst="rect">
            <a:avLst/>
          </a:prstGeom>
        </p:spPr>
      </p:pic>
    </p:spTree>
    <p:extLst>
      <p:ext uri="{BB962C8B-B14F-4D97-AF65-F5344CB8AC3E}">
        <p14:creationId xmlns:p14="http://schemas.microsoft.com/office/powerpoint/2010/main" val="278974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203F7BD-380C-B127-8FB0-B93DBD9B49F5}"/>
              </a:ext>
            </a:extLst>
          </p:cNvPr>
          <p:cNvSpPr>
            <a:spLocks noGrp="1"/>
          </p:cNvSpPr>
          <p:nvPr>
            <p:ph type="body" idx="2"/>
          </p:nvPr>
        </p:nvSpPr>
        <p:spPr>
          <a:xfrm>
            <a:off x="251959" y="3107093"/>
            <a:ext cx="5183188" cy="3399809"/>
          </a:xfrm>
        </p:spPr>
        <p:txBody>
          <a:bodyPr>
            <a:normAutofit fontScale="92500" lnSpcReduction="20000"/>
          </a:bodyPr>
          <a:lstStyle/>
          <a:p>
            <a:pPr marL="114300" indent="0">
              <a:buNone/>
            </a:pPr>
            <a:r>
              <a:rPr lang="en-US" b="1" dirty="0">
                <a:latin typeface="Times New Roman" panose="02020603050405020304" pitchFamily="18" charset="0"/>
                <a:ea typeface="Calibri" panose="020F0502020204030204" pitchFamily="34" charset="0"/>
                <a:cs typeface="Times New Roman" panose="02020603050405020304" pitchFamily="18" charset="0"/>
              </a:rPr>
              <a:t>Display Technology Share (Top 5 Expensive TVs)</a:t>
            </a:r>
          </a:p>
          <a:p>
            <a:r>
              <a:rPr lang="en-US" dirty="0">
                <a:latin typeface="Times New Roman" panose="02020603050405020304" pitchFamily="18" charset="0"/>
                <a:ea typeface="Calibri" panose="020F0502020204030204" pitchFamily="34" charset="0"/>
                <a:cs typeface="Times New Roman" panose="02020603050405020304" pitchFamily="18" charset="0"/>
              </a:rPr>
              <a:t>QLED holds the largest share among the most expensive TVs.</a:t>
            </a:r>
          </a:p>
          <a:p>
            <a:r>
              <a:rPr lang="en-US" dirty="0">
                <a:latin typeface="Times New Roman" panose="02020603050405020304" pitchFamily="18" charset="0"/>
                <a:ea typeface="Calibri" panose="020F0502020204030204" pitchFamily="34" charset="0"/>
                <a:cs typeface="Times New Roman" panose="02020603050405020304" pitchFamily="18" charset="0"/>
              </a:rPr>
              <a:t>LED and OLED also contribute significantly to the premium segment.</a:t>
            </a:r>
          </a:p>
          <a:p>
            <a:r>
              <a:rPr lang="en-US" dirty="0">
                <a:latin typeface="Times New Roman" panose="02020603050405020304" pitchFamily="18" charset="0"/>
                <a:ea typeface="Calibri" panose="020F0502020204030204" pitchFamily="34" charset="0"/>
                <a:cs typeface="Times New Roman" panose="02020603050405020304" pitchFamily="18" charset="0"/>
              </a:rPr>
              <a:t>Premium pricing is distributed across multiple display technologies.</a:t>
            </a:r>
          </a:p>
          <a:p>
            <a:endParaRPr lang="en-IN" dirty="0"/>
          </a:p>
        </p:txBody>
      </p:sp>
      <p:sp>
        <p:nvSpPr>
          <p:cNvPr id="6" name="Text Placeholder 5">
            <a:extLst>
              <a:ext uri="{FF2B5EF4-FFF2-40B4-BE49-F238E27FC236}">
                <a16:creationId xmlns:a16="http://schemas.microsoft.com/office/drawing/2014/main" id="{0F2CD774-9441-DB96-8391-17C99A8ACC25}"/>
              </a:ext>
            </a:extLst>
          </p:cNvPr>
          <p:cNvSpPr>
            <a:spLocks noGrp="1"/>
          </p:cNvSpPr>
          <p:nvPr>
            <p:ph type="body" idx="4"/>
          </p:nvPr>
        </p:nvSpPr>
        <p:spPr>
          <a:xfrm>
            <a:off x="6256176" y="3442992"/>
            <a:ext cx="5183188" cy="3082570"/>
          </a:xfrm>
        </p:spPr>
        <p:txBody>
          <a:bodyPr>
            <a:normAutofit fontScale="92500" lnSpcReduction="10000"/>
          </a:bodyPr>
          <a:lstStyle/>
          <a:p>
            <a:pPr marL="114300" indent="0">
              <a:buNone/>
            </a:pPr>
            <a:r>
              <a:rPr lang="en-US" b="1" dirty="0">
                <a:latin typeface="Times New Roman" panose="02020603050405020304" pitchFamily="18" charset="0"/>
                <a:cs typeface="Times New Roman" panose="02020603050405020304" pitchFamily="18" charset="0"/>
              </a:rPr>
              <a:t>Average Price by Brand (Top 10)</a:t>
            </a:r>
          </a:p>
          <a:p>
            <a:r>
              <a:rPr lang="en-US" dirty="0">
                <a:latin typeface="Times New Roman" panose="02020603050405020304" pitchFamily="18" charset="0"/>
                <a:cs typeface="Times New Roman" panose="02020603050405020304" pitchFamily="18" charset="0"/>
              </a:rPr>
              <a:t>Sony leads with the highest average TV prices.</a:t>
            </a:r>
          </a:p>
          <a:p>
            <a:r>
              <a:rPr lang="en-US" dirty="0">
                <a:latin typeface="Times New Roman" panose="02020603050405020304" pitchFamily="18" charset="0"/>
                <a:cs typeface="Times New Roman" panose="02020603050405020304" pitchFamily="18" charset="0"/>
              </a:rPr>
              <a:t>LG and Samsung form the next premium tier.</a:t>
            </a:r>
          </a:p>
          <a:p>
            <a:r>
              <a:rPr lang="en-US" dirty="0">
                <a:latin typeface="Times New Roman" panose="02020603050405020304" pitchFamily="18" charset="0"/>
                <a:cs typeface="Times New Roman" panose="02020603050405020304" pitchFamily="18" charset="0"/>
              </a:rPr>
              <a:t>Other brands compete at comparatively lower price points</a:t>
            </a:r>
            <a:r>
              <a:rPr lang="en-US" dirty="0"/>
              <a:t>.</a:t>
            </a:r>
          </a:p>
          <a:p>
            <a:endParaRPr lang="en-IN" dirty="0"/>
          </a:p>
        </p:txBody>
      </p:sp>
      <p:pic>
        <p:nvPicPr>
          <p:cNvPr id="7" name="Picture 6">
            <a:extLst>
              <a:ext uri="{FF2B5EF4-FFF2-40B4-BE49-F238E27FC236}">
                <a16:creationId xmlns:a16="http://schemas.microsoft.com/office/drawing/2014/main" id="{3095FE6D-CE3C-8D05-FD8A-03F99842AB64}"/>
              </a:ext>
            </a:extLst>
          </p:cNvPr>
          <p:cNvPicPr>
            <a:picLocks noChangeAspect="1"/>
          </p:cNvPicPr>
          <p:nvPr/>
        </p:nvPicPr>
        <p:blipFill>
          <a:blip r:embed="rId2"/>
          <a:stretch>
            <a:fillRect/>
          </a:stretch>
        </p:blipFill>
        <p:spPr>
          <a:xfrm>
            <a:off x="559838" y="223217"/>
            <a:ext cx="4422710" cy="2599098"/>
          </a:xfrm>
          <a:prstGeom prst="rect">
            <a:avLst/>
          </a:prstGeom>
        </p:spPr>
      </p:pic>
      <p:pic>
        <p:nvPicPr>
          <p:cNvPr id="8" name="Picture 7">
            <a:extLst>
              <a:ext uri="{FF2B5EF4-FFF2-40B4-BE49-F238E27FC236}">
                <a16:creationId xmlns:a16="http://schemas.microsoft.com/office/drawing/2014/main" id="{6278D6A6-0F14-93F9-CB17-46A500F14CBC}"/>
              </a:ext>
            </a:extLst>
          </p:cNvPr>
          <p:cNvPicPr>
            <a:picLocks noChangeAspect="1"/>
          </p:cNvPicPr>
          <p:nvPr/>
        </p:nvPicPr>
        <p:blipFill>
          <a:blip r:embed="rId3"/>
          <a:stretch>
            <a:fillRect/>
          </a:stretch>
        </p:blipFill>
        <p:spPr>
          <a:xfrm>
            <a:off x="6256174" y="223217"/>
            <a:ext cx="5183189" cy="2977182"/>
          </a:xfrm>
          <a:prstGeom prst="rect">
            <a:avLst/>
          </a:prstGeom>
        </p:spPr>
      </p:pic>
    </p:spTree>
    <p:extLst>
      <p:ext uri="{BB962C8B-B14F-4D97-AF65-F5344CB8AC3E}">
        <p14:creationId xmlns:p14="http://schemas.microsoft.com/office/powerpoint/2010/main" val="1680363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2407-BA7A-C5C5-6323-47B487BDB9A0}"/>
              </a:ext>
            </a:extLst>
          </p:cNvPr>
          <p:cNvSpPr>
            <a:spLocks noGrp="1"/>
          </p:cNvSpPr>
          <p:nvPr>
            <p:ph type="title"/>
          </p:nvPr>
        </p:nvSpPr>
        <p:spPr>
          <a:xfrm>
            <a:off x="44130" y="-187748"/>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Multi-Variant Analysis:-</a:t>
            </a:r>
            <a:endParaRPr lang="en-IN" dirty="0"/>
          </a:p>
        </p:txBody>
      </p:sp>
      <p:sp>
        <p:nvSpPr>
          <p:cNvPr id="4" name="Text Placeholder 3">
            <a:extLst>
              <a:ext uri="{FF2B5EF4-FFF2-40B4-BE49-F238E27FC236}">
                <a16:creationId xmlns:a16="http://schemas.microsoft.com/office/drawing/2014/main" id="{8C1FB745-99BD-46D0-C027-BD339C5E280F}"/>
              </a:ext>
            </a:extLst>
          </p:cNvPr>
          <p:cNvSpPr>
            <a:spLocks noGrp="1"/>
          </p:cNvSpPr>
          <p:nvPr>
            <p:ph type="body" idx="2"/>
          </p:nvPr>
        </p:nvSpPr>
        <p:spPr>
          <a:xfrm>
            <a:off x="401217" y="3428999"/>
            <a:ext cx="5393094" cy="3109453"/>
          </a:xfrm>
        </p:spPr>
        <p:txBody>
          <a:bodyPr>
            <a:normAutofit fontScale="92500"/>
          </a:bodyPr>
          <a:lstStyle/>
          <a:p>
            <a:pPr marL="114300" indent="0">
              <a:buNone/>
            </a:pPr>
            <a:r>
              <a:rPr lang="en-US" sz="2600" b="1" dirty="0">
                <a:latin typeface="Times New Roman" panose="02020603050405020304" pitchFamily="18" charset="0"/>
                <a:cs typeface="Times New Roman" panose="02020603050405020304" pitchFamily="18" charset="0"/>
              </a:rPr>
              <a:t>Correlation Heatmap</a:t>
            </a:r>
          </a:p>
          <a:p>
            <a:r>
              <a:rPr lang="en-US" sz="2600" dirty="0">
                <a:latin typeface="Times New Roman" panose="02020603050405020304" pitchFamily="18" charset="0"/>
                <a:cs typeface="Times New Roman" panose="02020603050405020304" pitchFamily="18" charset="0"/>
              </a:rPr>
              <a:t>Price and screen length show a moderate positive correlation (0.59).</a:t>
            </a:r>
          </a:p>
          <a:p>
            <a:r>
              <a:rPr lang="en-US" sz="2600" dirty="0">
                <a:latin typeface="Times New Roman" panose="02020603050405020304" pitchFamily="18" charset="0"/>
                <a:cs typeface="Times New Roman" panose="02020603050405020304" pitchFamily="18" charset="0"/>
              </a:rPr>
              <a:t>Price and sound output have a weak relationship (≈0.22).</a:t>
            </a:r>
          </a:p>
          <a:p>
            <a:r>
              <a:rPr lang="en-US" sz="2600" dirty="0">
                <a:latin typeface="Times New Roman" panose="02020603050405020304" pitchFamily="18" charset="0"/>
                <a:cs typeface="Times New Roman" panose="02020603050405020304" pitchFamily="18" charset="0"/>
              </a:rPr>
              <a:t>Screen size impacts price more than audio power.</a:t>
            </a:r>
          </a:p>
          <a:p>
            <a:endParaRPr lang="en-IN" dirty="0"/>
          </a:p>
        </p:txBody>
      </p:sp>
      <p:sp>
        <p:nvSpPr>
          <p:cNvPr id="6" name="Text Placeholder 5">
            <a:extLst>
              <a:ext uri="{FF2B5EF4-FFF2-40B4-BE49-F238E27FC236}">
                <a16:creationId xmlns:a16="http://schemas.microsoft.com/office/drawing/2014/main" id="{453922FE-8B9F-CDC4-3E36-5182547ACA1A}"/>
              </a:ext>
            </a:extLst>
          </p:cNvPr>
          <p:cNvSpPr>
            <a:spLocks noGrp="1"/>
          </p:cNvSpPr>
          <p:nvPr>
            <p:ph type="body" idx="4"/>
          </p:nvPr>
        </p:nvSpPr>
        <p:spPr>
          <a:xfrm>
            <a:off x="6548284" y="3487673"/>
            <a:ext cx="5242498" cy="3050779"/>
          </a:xfrm>
        </p:spPr>
        <p:txBody>
          <a:bodyPr>
            <a:normAutofit fontScale="92500" lnSpcReduction="10000"/>
          </a:bodyPr>
          <a:lstStyle/>
          <a:p>
            <a:pPr marL="114300" indent="0">
              <a:buNone/>
            </a:pPr>
            <a:r>
              <a:rPr lang="en-US" b="1" dirty="0" err="1">
                <a:latin typeface="Times New Roman" panose="02020603050405020304" pitchFamily="18" charset="0"/>
                <a:cs typeface="Times New Roman" panose="02020603050405020304" pitchFamily="18" charset="0"/>
              </a:rPr>
              <a:t>Pairplot</a:t>
            </a:r>
            <a:r>
              <a:rPr lang="en-US" b="1" dirty="0">
                <a:latin typeface="Times New Roman" panose="02020603050405020304" pitchFamily="18" charset="0"/>
                <a:cs typeface="Times New Roman" panose="02020603050405020304" pitchFamily="18" charset="0"/>
              </a:rPr>
              <a:t> Overview</a:t>
            </a:r>
          </a:p>
          <a:p>
            <a:r>
              <a:rPr lang="en-US" dirty="0">
                <a:latin typeface="Times New Roman" panose="02020603050405020304" pitchFamily="18" charset="0"/>
                <a:cs typeface="Times New Roman" panose="02020603050405020304" pitchFamily="18" charset="0"/>
              </a:rPr>
              <a:t>Larger TVs generally fall into higher price ranges.</a:t>
            </a:r>
          </a:p>
          <a:p>
            <a:r>
              <a:rPr lang="en-US" dirty="0">
                <a:latin typeface="Times New Roman" panose="02020603050405020304" pitchFamily="18" charset="0"/>
                <a:cs typeface="Times New Roman" panose="02020603050405020304" pitchFamily="18" charset="0"/>
              </a:rPr>
              <a:t>Customer ratings remain tightly clustered across features.</a:t>
            </a:r>
          </a:p>
          <a:p>
            <a:r>
              <a:rPr lang="en-US" dirty="0">
                <a:latin typeface="Times New Roman" panose="02020603050405020304" pitchFamily="18" charset="0"/>
                <a:cs typeface="Times New Roman" panose="02020603050405020304" pitchFamily="18" charset="0"/>
              </a:rPr>
              <a:t>Sound output shows no clear influence on price or ratings.</a:t>
            </a:r>
          </a:p>
          <a:p>
            <a:pPr marL="114300" indent="0">
              <a:buNone/>
            </a:pPr>
            <a:endParaRPr lang="en-IN" dirty="0"/>
          </a:p>
        </p:txBody>
      </p:sp>
      <p:pic>
        <p:nvPicPr>
          <p:cNvPr id="7" name="Picture 6">
            <a:extLst>
              <a:ext uri="{FF2B5EF4-FFF2-40B4-BE49-F238E27FC236}">
                <a16:creationId xmlns:a16="http://schemas.microsoft.com/office/drawing/2014/main" id="{ABD1B4D2-32E3-EF8B-9851-19F7ED2B843F}"/>
              </a:ext>
            </a:extLst>
          </p:cNvPr>
          <p:cNvPicPr>
            <a:picLocks noChangeAspect="1"/>
          </p:cNvPicPr>
          <p:nvPr/>
        </p:nvPicPr>
        <p:blipFill>
          <a:blip r:embed="rId2"/>
          <a:stretch>
            <a:fillRect/>
          </a:stretch>
        </p:blipFill>
        <p:spPr>
          <a:xfrm>
            <a:off x="595897" y="846752"/>
            <a:ext cx="5011126" cy="2484277"/>
          </a:xfrm>
          <a:prstGeom prst="rect">
            <a:avLst/>
          </a:prstGeom>
        </p:spPr>
      </p:pic>
      <p:pic>
        <p:nvPicPr>
          <p:cNvPr id="8" name="Picture 7">
            <a:extLst>
              <a:ext uri="{FF2B5EF4-FFF2-40B4-BE49-F238E27FC236}">
                <a16:creationId xmlns:a16="http://schemas.microsoft.com/office/drawing/2014/main" id="{B24EDF31-DFCD-A14C-CA02-6C657DE416FE}"/>
              </a:ext>
            </a:extLst>
          </p:cNvPr>
          <p:cNvPicPr>
            <a:picLocks noChangeAspect="1"/>
          </p:cNvPicPr>
          <p:nvPr/>
        </p:nvPicPr>
        <p:blipFill>
          <a:blip r:embed="rId3"/>
          <a:stretch>
            <a:fillRect/>
          </a:stretch>
        </p:blipFill>
        <p:spPr>
          <a:xfrm>
            <a:off x="6548284" y="108155"/>
            <a:ext cx="5393094" cy="3320843"/>
          </a:xfrm>
          <a:prstGeom prst="rect">
            <a:avLst/>
          </a:prstGeom>
        </p:spPr>
      </p:pic>
    </p:spTree>
    <p:extLst>
      <p:ext uri="{BB962C8B-B14F-4D97-AF65-F5344CB8AC3E}">
        <p14:creationId xmlns:p14="http://schemas.microsoft.com/office/powerpoint/2010/main" val="3948299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2E9F3-58E2-65EB-F217-85DC8300E509}"/>
              </a:ext>
            </a:extLst>
          </p:cNvPr>
          <p:cNvSpPr>
            <a:spLocks noGrp="1"/>
          </p:cNvSpPr>
          <p:nvPr>
            <p:ph type="title"/>
          </p:nvPr>
        </p:nvSpPr>
        <p:spPr>
          <a:xfrm>
            <a:off x="0" y="141605"/>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Hypothesis Testing:-</a:t>
            </a:r>
            <a:endParaRPr lang="en-IN" dirty="0"/>
          </a:p>
        </p:txBody>
      </p:sp>
      <p:sp>
        <p:nvSpPr>
          <p:cNvPr id="4" name="Text Placeholder 3">
            <a:extLst>
              <a:ext uri="{FF2B5EF4-FFF2-40B4-BE49-F238E27FC236}">
                <a16:creationId xmlns:a16="http://schemas.microsoft.com/office/drawing/2014/main" id="{A59898D5-C2D9-CA5A-0C76-BC2BA27681C5}"/>
              </a:ext>
            </a:extLst>
          </p:cNvPr>
          <p:cNvSpPr>
            <a:spLocks noGrp="1"/>
          </p:cNvSpPr>
          <p:nvPr>
            <p:ph type="body" idx="2"/>
          </p:nvPr>
        </p:nvSpPr>
        <p:spPr>
          <a:xfrm>
            <a:off x="264161" y="1467168"/>
            <a:ext cx="5313680" cy="4722495"/>
          </a:xfrm>
        </p:spPr>
        <p:txBody>
          <a:bodyPr>
            <a:normAutofit fontScale="92500" lnSpcReduction="10000"/>
          </a:bodyPr>
          <a:lstStyle/>
          <a:p>
            <a:pPr marL="114300" indent="0">
              <a:buNone/>
            </a:pPr>
            <a:r>
              <a:rPr lang="en-IN" b="1" dirty="0">
                <a:latin typeface="Times New Roman" panose="02020603050405020304" pitchFamily="18" charset="0"/>
                <a:cs typeface="Times New Roman" panose="02020603050405020304" pitchFamily="18" charset="0"/>
              </a:rPr>
              <a:t>Test 1: Screen Size vs Price</a:t>
            </a:r>
          </a:p>
          <a:p>
            <a:r>
              <a:rPr lang="en-IN" b="1" dirty="0">
                <a:latin typeface="Times New Roman" panose="02020603050405020304" pitchFamily="18" charset="0"/>
                <a:cs typeface="Times New Roman" panose="02020603050405020304" pitchFamily="18" charset="0"/>
              </a:rPr>
              <a:t>Null Hypothesis (H₀):</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Screen size and TV price have no relationship.</a:t>
            </a:r>
          </a:p>
          <a:p>
            <a:r>
              <a:rPr lang="en-IN" b="1" dirty="0">
                <a:latin typeface="Times New Roman" panose="02020603050405020304" pitchFamily="18" charset="0"/>
                <a:cs typeface="Times New Roman" panose="02020603050405020304" pitchFamily="18" charset="0"/>
              </a:rPr>
              <a:t>Alternative Hypothesis (H₁):</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Larger TVs cost more.</a:t>
            </a:r>
          </a:p>
          <a:p>
            <a:r>
              <a:rPr lang="en-IN" dirty="0">
                <a:latin typeface="Times New Roman" panose="02020603050405020304" pitchFamily="18" charset="0"/>
                <a:cs typeface="Times New Roman" panose="02020603050405020304" pitchFamily="18" charset="0"/>
              </a:rPr>
              <a:t>Pearson correlation: </a:t>
            </a:r>
            <a:r>
              <a:rPr lang="en-IN" b="1" dirty="0">
                <a:latin typeface="Times New Roman" panose="02020603050405020304" pitchFamily="18" charset="0"/>
                <a:cs typeface="Times New Roman" panose="02020603050405020304" pitchFamily="18" charset="0"/>
              </a:rPr>
              <a:t>0.59</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P-value &lt; 0.05</a:t>
            </a:r>
          </a:p>
          <a:p>
            <a:r>
              <a:rPr lang="en-IN" b="1" dirty="0">
                <a:latin typeface="Times New Roman" panose="02020603050405020304" pitchFamily="18" charset="0"/>
                <a:cs typeface="Times New Roman" panose="02020603050405020304" pitchFamily="18" charset="0"/>
              </a:rPr>
              <a:t>Decision:</a:t>
            </a:r>
            <a:r>
              <a:rPr lang="en-IN" dirty="0">
                <a:latin typeface="Times New Roman" panose="02020603050405020304" pitchFamily="18" charset="0"/>
                <a:cs typeface="Times New Roman" panose="02020603050405020304" pitchFamily="18" charset="0"/>
              </a:rPr>
              <a:t> Reject H₀</a:t>
            </a:r>
          </a:p>
          <a:p>
            <a:r>
              <a:rPr lang="en-IN" b="1" dirty="0">
                <a:latin typeface="Times New Roman" panose="02020603050405020304" pitchFamily="18" charset="0"/>
                <a:cs typeface="Times New Roman" panose="02020603050405020304" pitchFamily="18" charset="0"/>
              </a:rPr>
              <a:t>Conclusion:</a:t>
            </a:r>
            <a:r>
              <a:rPr lang="en-IN" dirty="0">
                <a:latin typeface="Times New Roman" panose="02020603050405020304" pitchFamily="18" charset="0"/>
                <a:cs typeface="Times New Roman" panose="02020603050405020304" pitchFamily="18" charset="0"/>
              </a:rPr>
              <a:t> Screen size significantly influences price.</a:t>
            </a:r>
          </a:p>
          <a:p>
            <a:endParaRPr lang="en-IN" dirty="0"/>
          </a:p>
        </p:txBody>
      </p:sp>
      <p:sp>
        <p:nvSpPr>
          <p:cNvPr id="6" name="Text Placeholder 5">
            <a:extLst>
              <a:ext uri="{FF2B5EF4-FFF2-40B4-BE49-F238E27FC236}">
                <a16:creationId xmlns:a16="http://schemas.microsoft.com/office/drawing/2014/main" id="{2D5D846E-802A-90C7-25E3-4B2E80EADCE9}"/>
              </a:ext>
            </a:extLst>
          </p:cNvPr>
          <p:cNvSpPr>
            <a:spLocks noGrp="1"/>
          </p:cNvSpPr>
          <p:nvPr>
            <p:ph type="body" idx="4"/>
          </p:nvPr>
        </p:nvSpPr>
        <p:spPr>
          <a:xfrm>
            <a:off x="6172200" y="1467168"/>
            <a:ext cx="5183188" cy="4722495"/>
          </a:xfrm>
        </p:spPr>
        <p:txBody>
          <a:bodyPr>
            <a:normAutofit fontScale="92500" lnSpcReduction="20000"/>
          </a:bodyPr>
          <a:lstStyle/>
          <a:p>
            <a:pPr marL="114300" indent="0">
              <a:buNone/>
            </a:pPr>
            <a:r>
              <a:rPr lang="en-US" b="1" dirty="0">
                <a:latin typeface="Times New Roman" panose="02020603050405020304" pitchFamily="18" charset="0"/>
                <a:cs typeface="Times New Roman" panose="02020603050405020304" pitchFamily="18" charset="0"/>
              </a:rPr>
              <a:t>Test 2: Screen Size vs Speaker Power</a:t>
            </a:r>
          </a:p>
          <a:p>
            <a:r>
              <a:rPr lang="en-US" b="1" dirty="0">
                <a:latin typeface="Times New Roman" panose="02020603050405020304" pitchFamily="18" charset="0"/>
                <a:cs typeface="Times New Roman" panose="02020603050405020304" pitchFamily="18" charset="0"/>
              </a:rPr>
              <a:t>Null Hypothesis (H₀):</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Screen size and speaker wattage have no relationship.</a:t>
            </a:r>
          </a:p>
          <a:p>
            <a:r>
              <a:rPr lang="en-US" b="1" dirty="0">
                <a:latin typeface="Times New Roman" panose="02020603050405020304" pitchFamily="18" charset="0"/>
                <a:cs typeface="Times New Roman" panose="02020603050405020304" pitchFamily="18" charset="0"/>
              </a:rPr>
              <a:t>Alternative Hypothesis (H₁):</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Larger TVs have higher speaker wattage.</a:t>
            </a:r>
          </a:p>
          <a:p>
            <a:r>
              <a:rPr lang="en-US" dirty="0">
                <a:latin typeface="Times New Roman" panose="02020603050405020304" pitchFamily="18" charset="0"/>
                <a:cs typeface="Times New Roman" panose="02020603050405020304" pitchFamily="18" charset="0"/>
              </a:rPr>
              <a:t>Pearson correlation: </a:t>
            </a:r>
            <a:r>
              <a:rPr lang="en-US" b="1" dirty="0">
                <a:latin typeface="Times New Roman" panose="02020603050405020304" pitchFamily="18" charset="0"/>
                <a:cs typeface="Times New Roman" panose="02020603050405020304" pitchFamily="18" charset="0"/>
              </a:rPr>
              <a:t>0.21</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P-value &lt; 0.05</a:t>
            </a:r>
          </a:p>
          <a:p>
            <a:r>
              <a:rPr lang="en-US" b="1" dirty="0">
                <a:latin typeface="Times New Roman" panose="02020603050405020304" pitchFamily="18" charset="0"/>
                <a:cs typeface="Times New Roman" panose="02020603050405020304" pitchFamily="18" charset="0"/>
              </a:rPr>
              <a:t>Decision:</a:t>
            </a:r>
            <a:r>
              <a:rPr lang="en-US" dirty="0">
                <a:latin typeface="Times New Roman" panose="02020603050405020304" pitchFamily="18" charset="0"/>
                <a:cs typeface="Times New Roman" panose="02020603050405020304" pitchFamily="18" charset="0"/>
              </a:rPr>
              <a:t> Reject H₀</a:t>
            </a:r>
          </a:p>
          <a:p>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Relationship exists but is weak.</a:t>
            </a:r>
          </a:p>
          <a:p>
            <a:endParaRPr lang="en-IN" dirty="0"/>
          </a:p>
        </p:txBody>
      </p:sp>
    </p:spTree>
    <p:extLst>
      <p:ext uri="{BB962C8B-B14F-4D97-AF65-F5344CB8AC3E}">
        <p14:creationId xmlns:p14="http://schemas.microsoft.com/office/powerpoint/2010/main" val="340238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D95D33-93E7-7170-1C22-839F3EB260E4}"/>
              </a:ext>
            </a:extLst>
          </p:cNvPr>
          <p:cNvSpPr>
            <a:spLocks noGrp="1"/>
          </p:cNvSpPr>
          <p:nvPr>
            <p:ph type="body" idx="1"/>
          </p:nvPr>
        </p:nvSpPr>
        <p:spPr>
          <a:xfrm>
            <a:off x="69214" y="293847"/>
            <a:ext cx="5398453" cy="823912"/>
          </a:xfrm>
        </p:spPr>
        <p:txBody>
          <a:bodyPr>
            <a:noAutofit/>
          </a:bodyPr>
          <a:lstStyle/>
          <a:p>
            <a:r>
              <a:rPr lang="en-IN" sz="4400" u="sng" dirty="0">
                <a:solidFill>
                  <a:srgbClr val="FF0000"/>
                </a:solidFill>
                <a:latin typeface="Times New Roman" panose="02020603050405020304" pitchFamily="18" charset="0"/>
                <a:cs typeface="Times New Roman" panose="02020603050405020304" pitchFamily="18" charset="0"/>
              </a:rPr>
              <a:t>Recommendations:-</a:t>
            </a:r>
            <a:endParaRPr lang="en-IN" sz="4400" dirty="0"/>
          </a:p>
        </p:txBody>
      </p:sp>
      <p:sp>
        <p:nvSpPr>
          <p:cNvPr id="4" name="Text Placeholder 3">
            <a:extLst>
              <a:ext uri="{FF2B5EF4-FFF2-40B4-BE49-F238E27FC236}">
                <a16:creationId xmlns:a16="http://schemas.microsoft.com/office/drawing/2014/main" id="{8B32AA03-E799-F235-A1D8-83B87B626BB1}"/>
              </a:ext>
            </a:extLst>
          </p:cNvPr>
          <p:cNvSpPr>
            <a:spLocks noGrp="1"/>
          </p:cNvSpPr>
          <p:nvPr>
            <p:ph type="body" idx="2"/>
          </p:nvPr>
        </p:nvSpPr>
        <p:spPr>
          <a:xfrm>
            <a:off x="169451" y="1444878"/>
            <a:ext cx="11486638" cy="5365272"/>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Focus inventory on 43–55 inch TVs, the highest-demand and revenue-driving segment.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Promote strong-performing brands with consistent presence and ratings.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Expand QLED and Mini LED offerings where margins are higher.</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Bundle or upsell external audio systems, since built-in sound adds little value.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Price mid-range models competitively around psychological thresholds (₹30k–₹50k) to capture volume without entering premium price wars.</a:t>
            </a:r>
          </a:p>
          <a:p>
            <a:pPr marL="114300" indent="0">
              <a:buNone/>
            </a:pPr>
            <a:endParaRPr lang="en-IN" dirty="0"/>
          </a:p>
        </p:txBody>
      </p:sp>
    </p:spTree>
    <p:extLst>
      <p:ext uri="{BB962C8B-B14F-4D97-AF65-F5344CB8AC3E}">
        <p14:creationId xmlns:p14="http://schemas.microsoft.com/office/powerpoint/2010/main" val="3550320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916E2-A257-CE7D-6590-3B58D094FCA9}"/>
              </a:ext>
            </a:extLst>
          </p:cNvPr>
          <p:cNvSpPr>
            <a:spLocks noGrp="1"/>
          </p:cNvSpPr>
          <p:nvPr>
            <p:ph type="title"/>
          </p:nvPr>
        </p:nvSpPr>
        <p:spPr>
          <a:xfrm>
            <a:off x="336755" y="650260"/>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Conclusion:-</a:t>
            </a:r>
            <a:br>
              <a:rPr lang="en-IN" dirty="0"/>
            </a:br>
            <a:endParaRPr lang="en-IN" dirty="0"/>
          </a:p>
        </p:txBody>
      </p:sp>
      <p:sp>
        <p:nvSpPr>
          <p:cNvPr id="3" name="Text Placeholder 2">
            <a:extLst>
              <a:ext uri="{FF2B5EF4-FFF2-40B4-BE49-F238E27FC236}">
                <a16:creationId xmlns:a16="http://schemas.microsoft.com/office/drawing/2014/main" id="{9E6922ED-379A-29B5-A7F3-CFBFEDC7B1C9}"/>
              </a:ext>
            </a:extLst>
          </p:cNvPr>
          <p:cNvSpPr>
            <a:spLocks noGrp="1"/>
          </p:cNvSpPr>
          <p:nvPr>
            <p:ph type="body" idx="1"/>
          </p:nvPr>
        </p:nvSpPr>
        <p:spPr>
          <a:xfrm>
            <a:off x="336755" y="1461831"/>
            <a:ext cx="10515600" cy="4351338"/>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Screen size is the strongest driver of TV pricing.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Customer ratings remain tightly clustered, showing price ≠ perceived quality.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Speaker wattage has minimal influence on price and size.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Market listings are dominated by recent launches.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few major brands control most of the catalogue, with others competing on value.</a:t>
            </a:r>
          </a:p>
          <a:p>
            <a:endParaRPr lang="en-IN" dirty="0"/>
          </a:p>
          <a:p>
            <a:endParaRPr lang="en-IN" dirty="0"/>
          </a:p>
        </p:txBody>
      </p:sp>
    </p:spTree>
    <p:extLst>
      <p:ext uri="{BB962C8B-B14F-4D97-AF65-F5344CB8AC3E}">
        <p14:creationId xmlns:p14="http://schemas.microsoft.com/office/powerpoint/2010/main" val="737897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4C52-476E-EC46-8A27-9F36D7A5B19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11368C3-FB04-8E9D-E98F-02AA7B905C75}"/>
              </a:ext>
            </a:extLst>
          </p:cNvPr>
          <p:cNvSpPr>
            <a:spLocks noGrp="1"/>
          </p:cNvSpPr>
          <p:nvPr>
            <p:ph type="body" idx="1"/>
          </p:nvPr>
        </p:nvSpPr>
        <p:spPr/>
        <p:txBody>
          <a:bodyPr/>
          <a:lstStyle/>
          <a:p>
            <a:endParaRPr lang="en-IN" dirty="0"/>
          </a:p>
        </p:txBody>
      </p:sp>
      <p:pic>
        <p:nvPicPr>
          <p:cNvPr id="2050" name="Picture 2" descr="HD Thank You Wallpapers - Wallpaper Cave">
            <a:extLst>
              <a:ext uri="{FF2B5EF4-FFF2-40B4-BE49-F238E27FC236}">
                <a16:creationId xmlns:a16="http://schemas.microsoft.com/office/drawing/2014/main" id="{AD7E1FB6-B653-34D1-7319-B038E97D7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03" y="235974"/>
            <a:ext cx="11670891" cy="5940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7319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1144</TotalTime>
  <Words>1117</Words>
  <Application>Microsoft Office PowerPoint</Application>
  <PresentationFormat>Widescreen</PresentationFormat>
  <Paragraphs>114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Tahoma</vt:lpstr>
      <vt:lpstr>Arial</vt:lpstr>
      <vt:lpstr>Calibri</vt:lpstr>
      <vt:lpstr>Times New Roman</vt:lpstr>
      <vt:lpstr>Wingdings</vt:lpstr>
      <vt:lpstr>Office Theme</vt:lpstr>
      <vt:lpstr>PowerPoint Presentation</vt:lpstr>
      <vt:lpstr>Agenda  </vt:lpstr>
      <vt:lpstr>Business Problem:-</vt:lpstr>
      <vt:lpstr>Objective:-</vt:lpstr>
      <vt:lpstr>Scarping:-</vt:lpstr>
      <vt:lpstr>Dataset Overview:- </vt:lpstr>
      <vt:lpstr>Data Preparation &amp; Cleaning:- </vt:lpstr>
      <vt:lpstr>Univariant Analysis:-</vt:lpstr>
      <vt:lpstr>PowerPoint Presentation</vt:lpstr>
      <vt:lpstr>Bi-Variant Analysis:-</vt:lpstr>
      <vt:lpstr>PowerPoint Presentation</vt:lpstr>
      <vt:lpstr>Multi-Variant Analysis:-</vt:lpstr>
      <vt:lpstr>Hypothesis Testing:-</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ROHITH REDDY</cp:lastModifiedBy>
  <cp:revision>20</cp:revision>
  <dcterms:created xsi:type="dcterms:W3CDTF">2021-02-16T05:19:01Z</dcterms:created>
  <dcterms:modified xsi:type="dcterms:W3CDTF">2026-02-05T13:24:39Z</dcterms:modified>
</cp:coreProperties>
</file>